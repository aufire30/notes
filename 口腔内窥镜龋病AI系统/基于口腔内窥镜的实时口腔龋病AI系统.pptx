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Poppins SemiBold" panose="000007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C3ED5A-0FE9-4EBA-B08A-9DECE883FB42}">
  <a:tblStyle styleId="{CEC3ED5A-0FE9-4EBA-B08A-9DECE883FB4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39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855595" y="2284809"/>
            <a:ext cx="6480810" cy="127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基于口腔内窥镜的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200" b="1" i="0" u="none" strike="noStrike" cap="none" dirty="0" err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实时口腔龋病AI系统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009900" y="3979962"/>
            <a:ext cx="61722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汇报人：覃金焱</a:t>
            </a:r>
            <a:r>
              <a:rPr lang="en-US" altLang="zh-CN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		</a:t>
            </a:r>
            <a:r>
              <a:rPr lang="zh-CN" alt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汇报时间：</a:t>
            </a:r>
            <a:r>
              <a:rPr lang="en-US" altLang="zh-CN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2026.5.22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775346"/>
            <a:ext cx="2452687" cy="2531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00437" y="2775346"/>
            <a:ext cx="2452687" cy="2531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775346"/>
            <a:ext cx="2452687" cy="2531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77312" y="2775346"/>
            <a:ext cx="2452687" cy="253156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010721" y="3794521"/>
            <a:ext cx="195524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项目背景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57275" y="4337446"/>
            <a:ext cx="1862137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行业痛点与端云协同设计初衷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3749159" y="3794521"/>
            <a:ext cx="195524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系统架构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3795712" y="4337446"/>
            <a:ext cx="1862137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三层拓扑结构与多线程解耦设计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487596" y="3794521"/>
            <a:ext cx="195524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核心技术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34150" y="4337446"/>
            <a:ext cx="1862137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YOLOv11本地推理与异步通信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226034" y="3794521"/>
            <a:ext cx="195524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评估指标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272587" y="4337446"/>
            <a:ext cx="1862137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性能量化数据与核心交付资产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97843" y="31087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12468" y="3108721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74718" y="31087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013156" y="310872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952500" y="871835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汇报目录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762000" y="871835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143000" y="2963167"/>
            <a:ext cx="4667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隐匿龋漏诊率高：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早期及邻面隐匿性龋齿难以肉眼辨别，依赖主观经验。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143000" y="3732609"/>
            <a:ext cx="4667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单机数据孤岛：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传统系统数据分散在单机中，无法实现跨终端调取与共享。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143000" y="4502050"/>
            <a:ext cx="4667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历史病程断代：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往期病历缺失，无法实现数字化、可视化对比追踪。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00603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775471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544913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952500" y="871835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项目背景与行业痛点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762000" y="871835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8365D5E-C568-711F-E6B9-2ECA68EE48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0" y="1704417"/>
            <a:ext cx="3840633" cy="43611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635323"/>
            <a:ext cx="5048250" cy="2264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635323"/>
            <a:ext cx="5048250" cy="2264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471689"/>
            <a:ext cx="10668000" cy="197539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1152525" y="2292548"/>
            <a:ext cx="448056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1. 硬件传感层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152525" y="2835473"/>
            <a:ext cx="42672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通用UVC协议USB口腔内窥镜，提供高帧率高清视频流原始输入。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772275" y="2292548"/>
            <a:ext cx="448056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lang="en-US" sz="2100" b="1" i="0" u="none" strike="noStrike" cap="none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边缘计算层</a:t>
            </a:r>
            <a:r>
              <a:rPr lang="en-US" sz="210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 (C++)</a:t>
            </a:r>
            <a:endParaRPr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6772275" y="2835473"/>
            <a:ext cx="42672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基于Qt5 +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OpenCV实现渲染，集成ONNX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Runtime进行硬件级本地推理加速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1152525" y="5128914"/>
            <a:ext cx="1038129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3. 云端数字化中台 (FastAPI)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152525" y="5671839"/>
            <a:ext cx="988695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异步非阻塞上报病历与AI截图，MySQL关系型数据库构建患者档案索引，实现历史回溯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952500" y="711398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系统总体架构设计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762000" y="711398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614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952500" y="1062335"/>
            <a:ext cx="48006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核心技术：AI本地实时推理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762000" y="1062335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1143000" y="1986260"/>
            <a:ext cx="43815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轻量化模型</a:t>
            </a:r>
            <a:r>
              <a:rPr lang="en-US" sz="1425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基于YOLOv11深度优化，针对细小龋病病灶进行精细化特征提取。</a:t>
            </a:r>
            <a:endParaRPr dirty="0"/>
          </a:p>
        </p:txBody>
      </p:sp>
      <p:sp>
        <p:nvSpPr>
          <p:cNvPr id="151" name="Google Shape;151;p17"/>
          <p:cNvSpPr txBox="1"/>
          <p:nvPr/>
        </p:nvSpPr>
        <p:spPr>
          <a:xfrm>
            <a:off x="1143000" y="2755701"/>
            <a:ext cx="43815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极速推理管线</a:t>
            </a:r>
            <a:r>
              <a:rPr lang="en-US" sz="1425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利用ONNX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Runtime实现GPU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NPU加速，端到端延迟显著降低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1143000" y="3525142"/>
            <a:ext cx="43815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零延迟临床体验</a:t>
            </a:r>
            <a:r>
              <a:rPr lang="en-US" sz="1425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本地完成全部运算，不依赖带宽，确保实时诊断画面流畅无眩晕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54177B-CCC7-26BD-1C53-0518DE8E8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9006" y="1110217"/>
            <a:ext cx="2695951" cy="48298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775346"/>
            <a:ext cx="3365450" cy="2531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775346"/>
            <a:ext cx="3365450" cy="2531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775346"/>
            <a:ext cx="3365450" cy="253156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987902" y="3794521"/>
            <a:ext cx="291364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非阻塞并发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057275" y="4337446"/>
            <a:ext cx="27749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利用CPR库实现异步数据序列化上传，UI主线程绝不卡死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dirty="0"/>
          </a:p>
        </p:txBody>
      </p:sp>
      <p:sp>
        <p:nvSpPr>
          <p:cNvPr id="163" name="Google Shape;163;p18"/>
          <p:cNvSpPr txBox="1"/>
          <p:nvPr/>
        </p:nvSpPr>
        <p:spPr>
          <a:xfrm>
            <a:off x="4639102" y="3794521"/>
            <a:ext cx="291364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二级缓存机制</a:t>
            </a:r>
            <a:endParaRPr dirty="0"/>
          </a:p>
        </p:txBody>
      </p:sp>
      <p:sp>
        <p:nvSpPr>
          <p:cNvPr id="164" name="Google Shape;164;p18"/>
          <p:cNvSpPr txBox="1"/>
          <p:nvPr/>
        </p:nvSpPr>
        <p:spPr>
          <a:xfrm>
            <a:off x="4708475" y="4337446"/>
            <a:ext cx="27749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断网状态下数据自动写入SQLite，确保诊疗数据永久安全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dirty="0"/>
          </a:p>
        </p:txBody>
      </p:sp>
      <p:sp>
        <p:nvSpPr>
          <p:cNvPr id="165" name="Google Shape;165;p18"/>
          <p:cNvSpPr txBox="1"/>
          <p:nvPr/>
        </p:nvSpPr>
        <p:spPr>
          <a:xfrm>
            <a:off x="8290303" y="3794521"/>
            <a:ext cx="291364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断点续传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8359675" y="4337446"/>
            <a:ext cx="27749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网络恢复后后台自动启动同步，将病历资产无缝迁移至云端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dirty="0"/>
          </a:p>
        </p:txBody>
      </p:sp>
      <p:pic>
        <p:nvPicPr>
          <p:cNvPr id="167" name="Google Shape;16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77963" y="3108721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351" y="31087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08926" y="3108721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952500" y="871835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异步端云通信与容错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762000" y="871835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7" name="Google Shape;177;p19"/>
          <p:cNvGraphicFramePr/>
          <p:nvPr/>
        </p:nvGraphicFramePr>
        <p:xfrm>
          <a:off x="762000" y="2607617"/>
          <a:ext cx="10668000" cy="2867000"/>
        </p:xfrm>
        <a:graphic>
          <a:graphicData uri="http://schemas.openxmlformats.org/drawingml/2006/table">
            <a:tbl>
              <a:tblPr firstRow="1" bandRow="1">
                <a:noFill/>
                <a:tableStyleId>{CEC3ED5A-0FE9-4EBA-B08A-9DECE883FB42}</a:tableStyleId>
              </a:tblPr>
              <a:tblGrid>
                <a:gridCol w="223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核心线程名称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职责说明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技术实现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A. 采集线程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高帧率无阻塞抓取内窥镜原始视频帧，维护缓存队列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。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cv::VideoCapture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B. AI推理线程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运行ONNX推理矩阵，计算病灶框并进行NMS处理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。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ONNX Runtime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C. UI渲染线程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高优先级接收检测帧并刷新Qt窗口，处理用户交互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。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Qt QThread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D. 云端异步线程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维护任务通知队列，独立完成大文件传输与心跳握手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。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CPR Async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8" name="Google Shape;178;p19"/>
          <p:cNvSpPr/>
          <p:nvPr/>
        </p:nvSpPr>
        <p:spPr>
          <a:xfrm>
            <a:off x="762000" y="3774430"/>
            <a:ext cx="22345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2996505" y="3774430"/>
            <a:ext cx="61123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9108876" y="3774430"/>
            <a:ext cx="23211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762000" y="4336405"/>
            <a:ext cx="22345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2996505" y="4336405"/>
            <a:ext cx="61123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9108876" y="4336405"/>
            <a:ext cx="23211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762000" y="4898380"/>
            <a:ext cx="22345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2996505" y="4898380"/>
            <a:ext cx="61123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9108876" y="4898380"/>
            <a:ext cx="23211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762000" y="5460355"/>
            <a:ext cx="22345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2996505" y="5460355"/>
            <a:ext cx="61123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9108876" y="5460355"/>
            <a:ext cx="23211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952500" y="871835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四维多线程架构设计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762000" y="871835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1119051" y="2132409"/>
            <a:ext cx="4667250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档案拉取</a:t>
            </a:r>
            <a:r>
              <a:rPr lang="en-US" sz="1425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输入患者姓名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手机号，即刻从云端MySQL获取历史诊疗记录列表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dirty="0"/>
          </a:p>
        </p:txBody>
      </p:sp>
      <p:sp>
        <p:nvSpPr>
          <p:cNvPr id="200" name="Google Shape;200;p20"/>
          <p:cNvSpPr txBox="1"/>
          <p:nvPr/>
        </p:nvSpPr>
        <p:spPr>
          <a:xfrm>
            <a:off x="1119051" y="2866609"/>
            <a:ext cx="4667250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全生命周期追踪</a:t>
            </a:r>
            <a:r>
              <a:rPr lang="en-US" sz="1425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支持</a:t>
            </a:r>
            <a:r>
              <a:rPr lang="zh-CN" altLang="en-US" sz="1425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根据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往期AI截图，直观对比病灶修复情况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dirty="0"/>
          </a:p>
        </p:txBody>
      </p:sp>
      <p:sp>
        <p:nvSpPr>
          <p:cNvPr id="201" name="Google Shape;201;p20"/>
          <p:cNvSpPr txBox="1"/>
          <p:nvPr/>
        </p:nvSpPr>
        <p:spPr>
          <a:xfrm>
            <a:off x="1119051" y="3723599"/>
            <a:ext cx="4667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提升复诊依从性</a:t>
            </a:r>
            <a:r>
              <a:rPr lang="en-US" sz="1425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：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让数据“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开口说话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”，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通过可视化对比增强患者对诊疗方案的信任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dirty="0"/>
          </a:p>
        </p:txBody>
      </p:sp>
      <p:sp>
        <p:nvSpPr>
          <p:cNvPr id="202" name="Google Shape;202;p20"/>
          <p:cNvSpPr txBox="1"/>
          <p:nvPr/>
        </p:nvSpPr>
        <p:spPr>
          <a:xfrm>
            <a:off x="952500" y="871835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云端数字化病历与可视化对比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762000" y="871835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00002"/>
            <a:ext cx="10668000" cy="154855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665647" y="2450395"/>
            <a:ext cx="261503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r>
              <a:rPr lang="en-US" sz="800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30</a:t>
            </a:r>
            <a:endParaRPr sz="1200" dirty="0"/>
          </a:p>
        </p:txBody>
      </p:sp>
      <p:sp>
        <p:nvSpPr>
          <p:cNvPr id="212" name="Google Shape;212;p21"/>
          <p:cNvSpPr txBox="1"/>
          <p:nvPr/>
        </p:nvSpPr>
        <p:spPr>
          <a:xfrm>
            <a:off x="1225450" y="3543002"/>
            <a:ext cx="14954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实时帧率 (FPS)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3421838" y="2398019"/>
            <a:ext cx="4050451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&lt;100</a:t>
            </a:r>
            <a:endParaRPr sz="1200" dirty="0"/>
          </a:p>
        </p:txBody>
      </p:sp>
      <p:sp>
        <p:nvSpPr>
          <p:cNvPr id="214" name="Google Shape;214;p21"/>
          <p:cNvSpPr txBox="1"/>
          <p:nvPr/>
        </p:nvSpPr>
        <p:spPr>
          <a:xfrm>
            <a:off x="4068985" y="3573115"/>
            <a:ext cx="30384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端到端延迟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ms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dirty="0"/>
          </a:p>
        </p:txBody>
      </p:sp>
      <p:sp>
        <p:nvSpPr>
          <p:cNvPr id="215" name="Google Shape;215;p21"/>
          <p:cNvSpPr txBox="1"/>
          <p:nvPr/>
        </p:nvSpPr>
        <p:spPr>
          <a:xfrm>
            <a:off x="7472289" y="2484875"/>
            <a:ext cx="335280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&lt;300</a:t>
            </a:r>
            <a:endParaRPr sz="1200" dirty="0"/>
          </a:p>
        </p:txBody>
      </p:sp>
      <p:sp>
        <p:nvSpPr>
          <p:cNvPr id="216" name="Google Shape;216;p21"/>
          <p:cNvSpPr txBox="1"/>
          <p:nvPr/>
        </p:nvSpPr>
        <p:spPr>
          <a:xfrm>
            <a:off x="7613451" y="3543002"/>
            <a:ext cx="33528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云端检索响应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ms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dirty="0"/>
          </a:p>
        </p:txBody>
      </p:sp>
      <p:sp>
        <p:nvSpPr>
          <p:cNvPr id="221" name="Google Shape;221;p21"/>
          <p:cNvSpPr txBox="1"/>
          <p:nvPr/>
        </p:nvSpPr>
        <p:spPr>
          <a:xfrm>
            <a:off x="952500" y="871835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核心量化评估指标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762000" y="871835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01998"/>
            <a:ext cx="3365450" cy="2531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1701998"/>
            <a:ext cx="3365450" cy="2531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701998"/>
            <a:ext cx="3365450" cy="253156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987902" y="2721173"/>
            <a:ext cx="291364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边缘端资产</a:t>
            </a:r>
            <a:endParaRPr dirty="0"/>
          </a:p>
        </p:txBody>
      </p:sp>
      <p:sp>
        <p:nvSpPr>
          <p:cNvPr id="234" name="Google Shape;234;p22"/>
          <p:cNvSpPr txBox="1"/>
          <p:nvPr/>
        </p:nvSpPr>
        <p:spPr>
          <a:xfrm>
            <a:off x="1057275" y="3264098"/>
            <a:ext cx="27749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基于CMake的C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++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高性能客户端核心源码与Win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Linux部署包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 dirty="0"/>
          </a:p>
        </p:txBody>
      </p:sp>
      <p:sp>
        <p:nvSpPr>
          <p:cNvPr id="235" name="Google Shape;235;p22"/>
          <p:cNvSpPr txBox="1"/>
          <p:nvPr/>
        </p:nvSpPr>
        <p:spPr>
          <a:xfrm>
            <a:off x="4639102" y="2721173"/>
            <a:ext cx="291364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算法资产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708475" y="3264098"/>
            <a:ext cx="27749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YOLOv11权重文件、标注数据集及转换脚本。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8290303" y="2721173"/>
            <a:ext cx="291364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云端资产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8359675" y="3264098"/>
            <a:ext cx="27749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FastAPI后端服务源码、MySQL建表脚本与Docker容器镜像。</a:t>
            </a:r>
            <a:endParaRPr/>
          </a:p>
        </p:txBody>
      </p:sp>
      <p:pic>
        <p:nvPicPr>
          <p:cNvPr id="239" name="Google Shape;23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06525" y="203537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351" y="203537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56551" y="203537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952500" y="778073"/>
            <a:ext cx="110013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 err="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核心交付物资产清单</a:t>
            </a:r>
            <a:endParaRPr dirty="0"/>
          </a:p>
        </p:txBody>
      </p:sp>
      <p:sp>
        <p:nvSpPr>
          <p:cNvPr id="243" name="Google Shape;243;p22"/>
          <p:cNvSpPr/>
          <p:nvPr/>
        </p:nvSpPr>
        <p:spPr>
          <a:xfrm>
            <a:off x="762000" y="778073"/>
            <a:ext cx="57150" cy="54292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269</Words>
  <Application>Microsoft Office PowerPoint</Application>
  <PresentationFormat>宽屏</PresentationFormat>
  <Paragraphs>67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Poppins</vt:lpstr>
      <vt:lpstr>Calibri</vt:lpstr>
      <vt:lpstr>Lato</vt:lpstr>
      <vt:lpstr>Poppins SemiBold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生 寄</cp:lastModifiedBy>
  <cp:revision>26</cp:revision>
  <dcterms:modified xsi:type="dcterms:W3CDTF">2026-05-22T12:34:26Z</dcterms:modified>
</cp:coreProperties>
</file>